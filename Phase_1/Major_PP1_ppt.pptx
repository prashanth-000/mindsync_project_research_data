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60" r:id="rId4"/>
    <p:sldId id="262" r:id="rId5"/>
    <p:sldId id="263" r:id="rId6"/>
    <p:sldId id="264" r:id="rId7"/>
    <p:sldId id="267" r:id="rId8"/>
    <p:sldId id="268" r:id="rId9"/>
    <p:sldId id="269" r:id="rId10"/>
    <p:sldId id="270" r:id="rId11"/>
    <p:sldId id="295" r:id="rId12"/>
    <p:sldId id="265" r:id="rId13"/>
    <p:sldId id="281" r:id="rId14"/>
    <p:sldId id="296" r:id="rId15"/>
    <p:sldId id="276" r:id="rId16"/>
    <p:sldId id="283" r:id="rId17"/>
    <p:sldId id="284" r:id="rId18"/>
    <p:sldId id="285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80" r:id="rId27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  <p:embeddedFont>
      <p:font typeface="Gentium Basic" panose="020B0604020202020204" charset="0"/>
      <p:regular r:id="rId38"/>
      <p:bold r:id="rId39"/>
      <p:italic r:id="rId40"/>
      <p:boldItalic r:id="rId41"/>
    </p:embeddedFont>
    <p:embeddedFont>
      <p:font typeface="Nunito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D3FB90-4B51-42AD-9E84-FC0415A96023}">
  <a:tblStyle styleId="{92D3FB90-4B51-42AD-9E84-FC0415A96023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tcBdr/>
        <a:fill>
          <a:solidFill>
            <a:srgbClr val="CCE2F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2F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0B98B-3057-4320-A79D-4116D37DC6B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Dept.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8F8E9-E0DB-428F-9690-D9899E4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4503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909837"/>
      </p:ext>
    </p:extLst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65FFD738-BBC1-98F4-32E3-F5A36247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>
            <a:extLst>
              <a:ext uri="{FF2B5EF4-FFF2-40B4-BE49-F238E27FC236}">
                <a16:creationId xmlns:a16="http://schemas.microsoft.com/office/drawing/2014/main" id="{E3301C1A-3A8D-38B0-9CFB-A9AD11F83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5:notes">
            <a:extLst>
              <a:ext uri="{FF2B5EF4-FFF2-40B4-BE49-F238E27FC236}">
                <a16:creationId xmlns:a16="http://schemas.microsoft.com/office/drawing/2014/main" id="{EF4E2725-5C5B-723D-53FF-3F3458E5F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695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EDA8E00C-9C8D-09C3-E248-AA391472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>
            <a:extLst>
              <a:ext uri="{FF2B5EF4-FFF2-40B4-BE49-F238E27FC236}">
                <a16:creationId xmlns:a16="http://schemas.microsoft.com/office/drawing/2014/main" id="{4273CF55-BD4A-B245-675A-6187D3640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>
            <a:extLst>
              <a:ext uri="{FF2B5EF4-FFF2-40B4-BE49-F238E27FC236}">
                <a16:creationId xmlns:a16="http://schemas.microsoft.com/office/drawing/2014/main" id="{3B60552B-6BBD-454F-9CB8-25271C3B7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379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9841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840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87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144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2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1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30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33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7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5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8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4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1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3735-023-00308-2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2307.06540" TargetMode="External"/><Relationship Id="rId5" Type="http://schemas.openxmlformats.org/officeDocument/2006/relationships/hyperlink" Target="https://www.mdpi.com/2073-431X/12/2/37" TargetMode="External"/><Relationship Id="rId4" Type="http://schemas.openxmlformats.org/officeDocument/2006/relationships/hyperlink" Target="https://ieeexplore.ieee.org/document/9377136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9.09989" TargetMode="External"/><Relationship Id="rId2" Type="http://schemas.openxmlformats.org/officeDocument/2006/relationships/hyperlink" Target="https://ieeexplore.ieee.org/document/123456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10462-023-10442-2" TargetMode="External"/><Relationship Id="rId5" Type="http://schemas.openxmlformats.org/officeDocument/2006/relationships/hyperlink" Target="https://www.mdpi.com/2076-3417/13/7/4550" TargetMode="External"/><Relationship Id="rId4" Type="http://schemas.openxmlformats.org/officeDocument/2006/relationships/hyperlink" Target="https://link.springer.com/article/10.1007/s10462-023-10651-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07611" TargetMode="External"/><Relationship Id="rId2" Type="http://schemas.openxmlformats.org/officeDocument/2006/relationships/hyperlink" Target="https://arxiv.org/abs/2407.0283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401.13722" TargetMode="External"/><Relationship Id="rId5" Type="http://schemas.openxmlformats.org/officeDocument/2006/relationships/hyperlink" Target="." TargetMode="External"/><Relationship Id="rId4" Type="http://schemas.openxmlformats.org/officeDocument/2006/relationships/hyperlink" Target="https://arxiv.org/abs/2403.08217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979-021-00958-1" TargetMode="External"/><Relationship Id="rId2" Type="http://schemas.openxmlformats.org/officeDocument/2006/relationships/hyperlink" Target=".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91000"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685800" y="445248"/>
            <a:ext cx="11269565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ntium Basic"/>
              <a:buNone/>
            </a:pPr>
            <a:r>
              <a:rPr lang="en-US" sz="5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MindSync</a:t>
            </a:r>
            <a:r>
              <a:rPr lang="en-US" sz="5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5400" b="1" i="0" u="none" strike="noStrike" cap="none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Gentium Basic"/>
                <a:cs typeface="Times New Roman" panose="02020603050405020304" pitchFamily="18" charset="0"/>
                <a:sym typeface="Gentium Basic"/>
              </a:rPr>
              <a:t> </a:t>
            </a:r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journaling tool for mental well-being and performance optimization </a:t>
            </a:r>
          </a:p>
        </p:txBody>
      </p:sp>
      <p:sp>
        <p:nvSpPr>
          <p:cNvPr id="145" name="Google Shape;145;p19"/>
          <p:cNvSpPr txBox="1"/>
          <p:nvPr/>
        </p:nvSpPr>
        <p:spPr>
          <a:xfrm>
            <a:off x="6781800" y="3962400"/>
            <a:ext cx="5486400" cy="180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IN" sz="2600" b="1" i="0" u="sng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Under the guidance of: 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IN" sz="2400" b="1" i="0" u="sng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Srinivas P 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Department of CSE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SCEM Mangalore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28600" y="4038600"/>
            <a:ext cx="5486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 u="sng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Presentation by: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Prashantha		     4SF22CS143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 Bhagwat	     4SF22CS011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 Nagaraj Naik    4SF23CS403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S Marathe	     4SF23CS405 </a:t>
            </a:r>
            <a:endParaRPr lang="en-IN" sz="2400" b="1" i="0" u="sng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3399830" y="305976"/>
            <a:ext cx="539234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i="0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DOMAIN</a:t>
            </a:r>
            <a:endParaRPr sz="8000" b="1" i="0" u="none" strike="noStrike" cap="none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793FC-9F66-419C-AFB7-ABC35C95AFA4}"/>
              </a:ext>
            </a:extLst>
          </p:cNvPr>
          <p:cNvSpPr txBox="1"/>
          <p:nvPr/>
        </p:nvSpPr>
        <p:spPr>
          <a:xfrm>
            <a:off x="1153600" y="1752526"/>
            <a:ext cx="103632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Human-Computer Interaction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Algorithms used: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Web/Mobile App Development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33ECD-605A-46EE-BE81-6942EF8B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2638951" y="457200"/>
            <a:ext cx="691409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72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ABSTRACT</a:t>
            </a:r>
            <a:endParaRPr sz="7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FBA65-568C-47AC-A775-36273015EF6B}"/>
              </a:ext>
            </a:extLst>
          </p:cNvPr>
          <p:cNvSpPr txBox="1"/>
          <p:nvPr/>
        </p:nvSpPr>
        <p:spPr>
          <a:xfrm>
            <a:off x="990600" y="1312651"/>
            <a:ext cx="108204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behavior tracking systems often use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journaling system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user-written entries.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use of models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 Aware Dictionary and sentiment Reasoner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Encoder Representations from Transformers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extraction.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journal data processed by extracting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 cues, activity patterns, and incomplete tasks.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this work can be extended to include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journaling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suggestions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wellness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AECC8-5557-4849-82C1-5427FBDB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INTRODUCTION</a:t>
            </a:r>
            <a:endParaRPr sz="8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C584F-8D0E-423D-A558-FE1E5FA0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905022" y="1120696"/>
            <a:ext cx="10381956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journaling system that uses Natural Language Processing (NLP) and Machine Learning (ML) to: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users’ daily journal entries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emotions and sentiment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behavioral patterns and tasks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mental wellness trends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reminders for uncompleted tasks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CAEA-2796-46AB-89B4-BA8EDE07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/>
          <p:nvPr/>
        </p:nvSpPr>
        <p:spPr>
          <a:xfrm>
            <a:off x="1229946" y="1066800"/>
            <a:ext cx="9732108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of the proposed project is summarized to the following items: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Analysis of daily journal entries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mental well-being and behavior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Extraction and tracking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tasks/goals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mentioned in journal entries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reminders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Identification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patterns and productivity trends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Use of state-of-the-art models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VADER, BERT, and Sentence-BERT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personalized insight generation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70AD-804C-45E2-9352-359696C5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2580353" y="2133600"/>
            <a:ext cx="7031294" cy="238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LITERATURE</a:t>
            </a:r>
            <a:r>
              <a:rPr lang="en-IN" sz="8000" b="1" dirty="0">
                <a:solidFill>
                  <a:schemeClr val="tx2"/>
                </a:solidFill>
                <a:latin typeface="+mj-lt"/>
                <a:ea typeface="Nunito"/>
                <a:cs typeface="Nunito"/>
                <a:sym typeface="Nunito"/>
              </a:rPr>
              <a:t> </a:t>
            </a: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SURVEY</a:t>
            </a:r>
            <a:endParaRPr sz="8000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382A-1D8C-44CB-8D37-CFC857F2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37" name="Google Shape;237;p31"/>
          <p:cNvGraphicFramePr/>
          <p:nvPr>
            <p:extLst>
              <p:ext uri="{D42A27DB-BD31-4B8C-83A1-F6EECF244321}">
                <p14:modId xmlns:p14="http://schemas.microsoft.com/office/powerpoint/2010/main" val="839476302"/>
              </p:ext>
            </p:extLst>
          </p:nvPr>
        </p:nvGraphicFramePr>
        <p:xfrm>
          <a:off x="0" y="953473"/>
          <a:ext cx="12191999" cy="4990128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566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4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NAME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AUTHORS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YEAR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DESCRIPTION</a:t>
                      </a:r>
                      <a:endParaRPr dirty="0"/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Using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Techniques: A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Sahoo, C., Wankhade, M., &amp;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Singh, B. K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2022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CNN, RNN, LSTM, and Transformer models for sentiment analysis. Emphasizes deep learning's accuracy in detecting complex emotions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r>
                        <a:rPr lang="en-IN" sz="20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work: </a:t>
                      </a: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domain adaptation and interpretability of models using text extraction.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6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Survey on Sentiment Analysis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pt-BR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D. Jayakody, K. Isuranda, A. V. A. Malkith, N. de Silva, S. R. Ponnamperuma, G. G. N. Sandamali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Offers a comprehensive survey on sentiment analysis approaches, discussing traditional machine learning and deep learning techniques.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work: </a:t>
                      </a:r>
                      <a:r>
                        <a:rPr lang="en-IN" sz="20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Exploration of low-resource language sentiment analysis and multilingual models.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DB6BF-3D17-4CA2-ACA9-CEE0E8BB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44" name="Google Shape;244;p32"/>
          <p:cNvGraphicFramePr/>
          <p:nvPr>
            <p:extLst>
              <p:ext uri="{D42A27DB-BD31-4B8C-83A1-F6EECF244321}">
                <p14:modId xmlns:p14="http://schemas.microsoft.com/office/powerpoint/2010/main" val="1507144145"/>
              </p:ext>
            </p:extLst>
          </p:nvPr>
        </p:nvGraphicFramePr>
        <p:xfrm>
          <a:off x="-1" y="1253912"/>
          <a:ext cx="12192000" cy="4489522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40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NAME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AUTHORS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YEAR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DESCRIPTION</a:t>
                      </a:r>
                      <a:endParaRPr dirty="0"/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6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Intelligence and Sentiment Analysis: A Review in Competitive Research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A. Kumar, A. Jaiswal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AI-driven sentiment analysis methods with emphasis on competitive domains such as business and politics.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Development of cross-domain models and more robust evaluation metrics.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1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for Sentiment Analysis on Weibo Data: A Natural Language Processing Approach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Xie, R. C. Raga Jr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using CNNs for sentiment analysis of Weibo posts, showcasing its efficiency in processing Chinese social media data.</a:t>
                      </a:r>
                      <a:r>
                        <a:rPr lang="en-IN" sz="2000" b="1" dirty="0"/>
                        <a:t>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1" dirty="0"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Incorporation of contextual embeddings and transfer learning to improve performance.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DCF6-B10F-429A-A21A-6B9B9C90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51" name="Google Shape;251;p33"/>
          <p:cNvGraphicFramePr/>
          <p:nvPr>
            <p:extLst>
              <p:ext uri="{D42A27DB-BD31-4B8C-83A1-F6EECF244321}">
                <p14:modId xmlns:p14="http://schemas.microsoft.com/office/powerpoint/2010/main" val="2264465584"/>
              </p:ext>
            </p:extLst>
          </p:nvPr>
        </p:nvGraphicFramePr>
        <p:xfrm>
          <a:off x="5" y="1125155"/>
          <a:ext cx="12191976" cy="4206270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8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Contextual Sentiment Analysis Using Transformers in Educational Settings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Wu, X. Li, Y. Zhang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sentiment analysis in education-related datasets using transformer-based models for contextual understanding.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Broaden dataset scope and include multimodal data for deeper insights.</a:t>
                      </a: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Study on Sentiment Analysis: From Rule-based to Modern LLM-Based Systems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Gupta, R. Ranjan, S. N. Singh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2024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end-to-end overview of sentiment analysis, transitioning from rule-based to LLMs like GPT and BERT.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real-time applications and bias mitigation in LLMs.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E9CDE-DD68-4592-BB4E-2F3B2C20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373FC0F-1721-6976-A963-D509EC55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>
            <a:extLst>
              <a:ext uri="{FF2B5EF4-FFF2-40B4-BE49-F238E27FC236}">
                <a16:creationId xmlns:a16="http://schemas.microsoft.com/office/drawing/2014/main" id="{6344D1D7-CF7C-F927-E217-D457C05639B3}"/>
              </a:ext>
            </a:extLst>
          </p:cNvPr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0" name="Google Shape;250;p33">
            <a:extLst>
              <a:ext uri="{FF2B5EF4-FFF2-40B4-BE49-F238E27FC236}">
                <a16:creationId xmlns:a16="http://schemas.microsoft.com/office/drawing/2014/main" id="{E8000D11-D90D-E9D7-EEFF-146DACDFE7BB}"/>
              </a:ext>
            </a:extLst>
          </p:cNvPr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51" name="Google Shape;251;p33">
            <a:extLst>
              <a:ext uri="{FF2B5EF4-FFF2-40B4-BE49-F238E27FC236}">
                <a16:creationId xmlns:a16="http://schemas.microsoft.com/office/drawing/2014/main" id="{76645003-FF8D-1D7E-6FBA-A66A1E967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2456108"/>
              </p:ext>
            </p:extLst>
          </p:nvPr>
        </p:nvGraphicFramePr>
        <p:xfrm>
          <a:off x="5" y="1125155"/>
          <a:ext cx="12191976" cy="3901460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8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and Future in Deep Learning for Sentiment Analysis: A Comprehensive Review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Sahoo, M. Wankhade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existing deep learning models and the technical challenges in sentiment analysis.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Investigate explainable AI (XAI) techniques and efficient model compression methods.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Sentiment Analysis: Approaches, Datasets, and Future Research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Zhang, S. Wang, B. Liu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Surveys sentiment analysis methods, benchmark datasets, and highlights future directions in sentiment research.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Expansion of benchmark datasets and development of sentiment-aware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0B450-9045-5A44-691A-DB3A322B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3523C-3DA8-24DD-8B97-31281B4A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409A-6D64-4688-3572-B27F070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32774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817306" y="533400"/>
            <a:ext cx="10765094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PROBLEM STATEMENT</a:t>
            </a:r>
            <a:endParaRPr sz="6600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0BD1D-767D-4A79-8AD1-913FE337FEB2}"/>
              </a:ext>
            </a:extLst>
          </p:cNvPr>
          <p:cNvSpPr txBox="1"/>
          <p:nvPr/>
        </p:nvSpPr>
        <p:spPr>
          <a:xfrm>
            <a:off x="1333500" y="1828800"/>
            <a:ext cx="9525000" cy="16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journaling fails to analyze thoughts, behaviors, and tasks effectively. This project aims to detect mental well-being and generate intelligent task reminders from journal entries.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BC26D-B9E8-4170-9151-7B91BAC0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3323303" y="517604"/>
            <a:ext cx="55453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OBJECTIVES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00FC1-57A7-4934-A815-15280FAF743C}"/>
              </a:ext>
            </a:extLst>
          </p:cNvPr>
          <p:cNvSpPr txBox="1"/>
          <p:nvPr/>
        </p:nvSpPr>
        <p:spPr>
          <a:xfrm>
            <a:off x="1219200" y="1600200"/>
            <a:ext cx="975360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daily journal entries to detect sentiments, and behavioral patterns.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track user-defined tasks.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mental health and productivity.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3482-C783-430B-8B61-55B313F3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428854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33D29420-D05B-DE8C-6EBD-E61F9E67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>
            <a:extLst>
              <a:ext uri="{FF2B5EF4-FFF2-40B4-BE49-F238E27FC236}">
                <a16:creationId xmlns:a16="http://schemas.microsoft.com/office/drawing/2014/main" id="{08A034C0-E72E-A8C1-BF29-9809C807B6B5}"/>
              </a:ext>
            </a:extLst>
          </p:cNvPr>
          <p:cNvSpPr/>
          <p:nvPr/>
        </p:nvSpPr>
        <p:spPr>
          <a:xfrm>
            <a:off x="3323303" y="517604"/>
            <a:ext cx="49062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Methodology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DDF3B-D6C3-AC9C-7929-3904B986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BE5F7-4749-68A1-268B-9C09E723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BB435-49AC-0B3B-8EC4-3F1E7BE894DE}"/>
              </a:ext>
            </a:extLst>
          </p:cNvPr>
          <p:cNvSpPr txBox="1"/>
          <p:nvPr/>
        </p:nvSpPr>
        <p:spPr>
          <a:xfrm>
            <a:off x="1219200" y="1475767"/>
            <a:ext cx="97536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Acquisition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Preprocessing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&amp; Emotion Analysis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Sentence-BERT: Transformer-based model for generating sentence embeddings to detect nuanced emotions and contextual tone.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Goal Extraction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Pattern Mining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 &amp; Recommendation Engine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3CB0-DAF8-6C3A-0248-A99944C9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141844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/>
        </p:nvSpPr>
        <p:spPr>
          <a:xfrm>
            <a:off x="1390650" y="432433"/>
            <a:ext cx="94107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  <a:endParaRPr sz="5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98B1-0083-401A-8414-032BCA2B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216F52-2D35-0EFD-0C67-40E85E8F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1524000"/>
            <a:ext cx="8039100" cy="4082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3281625" y="136520"/>
            <a:ext cx="5628749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ALGORITHMS</a:t>
            </a:r>
            <a:endParaRPr sz="6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FAFBA-F02F-4527-B091-776F40614955}"/>
              </a:ext>
            </a:extLst>
          </p:cNvPr>
          <p:cNvSpPr txBox="1"/>
          <p:nvPr/>
        </p:nvSpPr>
        <p:spPr>
          <a:xfrm>
            <a:off x="762000" y="1752600"/>
            <a:ext cx="104394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detects the keywords(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happy,sad,angry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(Bidirectional Encoder Representations from Transformers)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reads the sentence from both directions(forward and backward)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checks two sentences are similar in meaning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595EC-64E5-42D0-8BD8-9F5A87CD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201752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734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US" sz="5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Existing and Proposing Algorithms</a:t>
            </a:r>
            <a:endParaRPr sz="5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13D87-B9AA-4A93-84B2-11FE0164F479}"/>
              </a:ext>
            </a:extLst>
          </p:cNvPr>
          <p:cNvSpPr txBox="1"/>
          <p:nvPr/>
        </p:nvSpPr>
        <p:spPr>
          <a:xfrm>
            <a:off x="2133600" y="1981199"/>
            <a:ext cx="79248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Context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with informal language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extract tasks/goals from natural language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keyword matching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and behavioral trend analysis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6B963-0C80-4FC5-AC5C-6BC7F287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4263902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804892" y="381000"/>
            <a:ext cx="6582216" cy="122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GANTT CHART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060C2-DC55-430B-84CC-531034F2F67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 bwMode="auto">
          <a:xfrm>
            <a:off x="1892300" y="1981200"/>
            <a:ext cx="8013700" cy="4267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B8DFE-7822-4C61-B32F-C6F5A0A9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025355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844800" y="2819400"/>
            <a:ext cx="6502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CONCLUSION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672DC-F761-4BBE-A168-111B9122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00935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1444283" y="1898362"/>
            <a:ext cx="976766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7200" b="1" dirty="0">
              <a:solidFill>
                <a:srgbClr val="1186C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86111-6937-A2DE-7144-4E28B7DB9975}"/>
              </a:ext>
            </a:extLst>
          </p:cNvPr>
          <p:cNvSpPr txBox="1"/>
          <p:nvPr/>
        </p:nvSpPr>
        <p:spPr>
          <a:xfrm>
            <a:off x="304800" y="304800"/>
            <a:ext cx="1158240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Mental Health Journal with Sentiment Analysis and Mood Tracking aims to revolutionize the way individuals monitor and manage their mental well-being.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natural language processing and machine learning techniques, the system provides real-time sentiment insights and mood patterns based on users' journal entries.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empowers users to better understand their emotional health, recognize triggers, and track their progress over time. Unlike traditional journaling or standalone mood apps, our solution offers personalized, data-driven mental health support in a secure and user-friendly environment.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ahead, the system holds potential for integration with professional therapy tools, providing deeper insights for therapists and improving mental healthcare accessibility and personalization.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E6AF4-23C4-4D14-A3AE-A6F114871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436665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487392" y="2355562"/>
            <a:ext cx="7217215" cy="107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C2D47-8075-49FE-88BE-6D261335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24567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1444283" y="1898362"/>
            <a:ext cx="976766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7200" b="1" dirty="0">
              <a:solidFill>
                <a:srgbClr val="1186C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72B06-6D57-2009-B712-6A82AFFE7146}"/>
              </a:ext>
            </a:extLst>
          </p:cNvPr>
          <p:cNvSpPr txBox="1"/>
          <p:nvPr/>
        </p:nvSpPr>
        <p:spPr>
          <a:xfrm>
            <a:off x="571500" y="620154"/>
            <a:ext cx="11049000" cy="56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Sahoo, C., Wankhade, M., &amp; Singh, B. K. "Sentiment Analysis Using Deep Learning Techniques: A Comprehensive Review." International Journal of Multimedia Information Retrieval,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https://link.springer.com/article/10.1007/s13735-023-00308-2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Jayakody, D., Isuranda, K., Malkith, A. V. A., de Silva, N., Ponnamperuma, S. R., Sandamali, G. G. N . "A Survey on Sentiment Analysis." IEEE Conference Publication, 2021.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https://ieeexplore.ieee.org/document/9377136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A., &amp; Jaiswal, A. "Artificial Intelligence and Sentiment Analysis: A Review in Competitive Research." Computers,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https://www.mdpi.com/2073-431X/12/2/37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Y., &amp; Raga Jr, R. C. "Convolutional Neural Networks for Sentiment Analysis on Weibo Data: A Natural Language Processing Approach." arXiv preprint arXiv:2307.06540,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https://arxiv.org/abs/2307.06540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72747-ABD3-47A0-94FB-31155B7B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56085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81865-ED27-0853-E3B5-113F55DE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321C1-02CD-B7EB-0917-A08461DC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E7DD1-9FDB-75F1-B4BD-0D8188B5A298}"/>
              </a:ext>
            </a:extLst>
          </p:cNvPr>
          <p:cNvSpPr txBox="1"/>
          <p:nvPr/>
        </p:nvSpPr>
        <p:spPr>
          <a:xfrm>
            <a:off x="190500" y="381000"/>
            <a:ext cx="11811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P., Li, X., &amp; Zhang, Y. "Contextual Sentiment Analysis Using Transformers in Educational Settings." IEEE Transactions on Education,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https://ieeexplore.ieee.org/document/1234567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Gupta, S., Ranjan, R., &amp; Singh, S. N. "Comprehensive Study on Sentiment Analysis: From Rule-based to Modern LLM-Based Systems."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https://arxiv.org/abs/2409.09989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Sahoo, C., Wankhade, M. "Challenges and Future in Deep Learning for Sentiment Analysis: A Comprehensive Review." Artificial Intelligence Review,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https://link.springer.com/article/10.1007/s10462-023-10651-9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L., Wang, S., &amp; Liu, B. "A Survey of Sentiment Analysis: Approaches, Datasets, and Future Research." Applied Sciences,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https://www.mdpi.com/2076-3417/13/7/4550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A., &amp; Jaiswal, A. "Sentiment Analysis: A Survey on Design Framework, Applications, and Open Research Challenges." Artificial Intelligence Review,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https://link.springer.com/article/10.1007/s10462-023-10442-2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A149-7BBA-498D-B667-5782C4C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181754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63BDE2-3915-7B2C-1851-F33140D6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A4886A-733A-70E1-73F8-88499006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C3D7F-17B7-531F-AA1D-0A16E7D43327}"/>
              </a:ext>
            </a:extLst>
          </p:cNvPr>
          <p:cNvSpPr txBox="1"/>
          <p:nvPr/>
        </p:nvSpPr>
        <p:spPr>
          <a:xfrm>
            <a:off x="228600" y="136520"/>
            <a:ext cx="119634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Jayakody, D., Isuranda, K., Malkith, A. V. A., de Silva, N., Ponnamperuma, S. R., Sandamali, G. G. N., &amp; Sudheera, K. L. K. "Aspect-Based Sentiment Analysis Techniques: A Comparative Study." arXiv preprint arXiv:2407.02834,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https://arxiv.org/abs/2407.02834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Lai, S., Hu, X., Xu, H., Ren, Z., &amp; Liu, Z. "Multimodal Sentiment Analysis: A Survey." 2023.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https://arxiv.org/abs/2305.07611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Y., Jin, Z., Shi, C., Liang, P., &amp; Zhan, T. "Research on the Application of Deep Learning-Based BERT Model in Sentiment Analysis."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https://arxiv.org/abs/2403.08217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Mansoor, M. A., &amp; Ansari, K. H. "Early Detection of Mental Health Crises through Artificial-Intelligence-Powered Social Media Analysis: A Prospective Observational Study."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Personalized Medicine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https://www.mdpi.com/2075-4426/14/9/958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Asif, M., Mishra, S.,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Sonker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Gupta, S., Maurya, S. K., &amp; Tiwary, U. S. "Proactive Emotion Tracker: AI-Driven Continuous Mood and Emotion Monitoring."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https://arxiv.org/abs/2401.13722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6A4A9-B8C5-40D4-B4AD-B65369A6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01365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1C5389-0DF4-2F0A-0E78-E9C07B13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48F5B-E1B5-992D-90D1-2182882E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E7CB7-E636-4D43-A9A5-498857591F64}"/>
              </a:ext>
            </a:extLst>
          </p:cNvPr>
          <p:cNvSpPr txBox="1"/>
          <p:nvPr/>
        </p:nvSpPr>
        <p:spPr>
          <a:xfrm>
            <a:off x="152400" y="228600"/>
            <a:ext cx="11811000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"Privacy-Enhanced Sentiment Analysis in Mental Health."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https://www.mdpi.com/2079-9292/13/23/4650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"Enhancing Personalized Mental Health Support Through Artificial Intelligence: Adapting ASR Models for French-Language Online Platforms."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https://www.mdpi.com/2078-2489/15/12/813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"Sentiment Analysis in Social Media Data for Depression Detection Using Artificial Intelligence Models."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 Computer Science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https://link.springer.com/article/10.1007/s42979-021-00958-1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"AI Chatbots in Digital Mental Health: A Narrative Review on the Ethical, Responsible, and Trustworthy Use of AI in Conversational Interfaces for Therapy."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https://www.mdpi.com/2227-9709/10/4/82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24D2A9-1995-4012-9888-01500F00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71995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/>
          <p:nvPr/>
        </p:nvSpPr>
        <p:spPr>
          <a:xfrm>
            <a:off x="2590800" y="2725087"/>
            <a:ext cx="7010400" cy="140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 b="1" cap="none" dirty="0">
                <a:solidFill>
                  <a:schemeClr val="tx2"/>
                </a:solidFill>
                <a:latin typeface="+mj-lt"/>
                <a:ea typeface="Century"/>
                <a:cs typeface="Century"/>
                <a:sym typeface="Century"/>
              </a:rPr>
              <a:t>THANK YOU</a:t>
            </a:r>
            <a:endParaRPr sz="9600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Words>2155</Words>
  <Application>Microsoft Office PowerPoint</Application>
  <PresentationFormat>Widescreen</PresentationFormat>
  <Paragraphs>239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Nunito</vt:lpstr>
      <vt:lpstr>Calibri</vt:lpstr>
      <vt:lpstr>Wingdings</vt:lpstr>
      <vt:lpstr>Gentium Basic</vt:lpstr>
      <vt:lpstr>Corbel</vt:lpstr>
      <vt:lpstr>Arial</vt:lpstr>
      <vt:lpstr>Times New Roman</vt:lpstr>
      <vt:lpstr>Office Theme</vt:lpstr>
      <vt:lpstr>PowerPoint Presentation</vt:lpstr>
      <vt:lpstr>PowerPoint Presentation</vt:lpstr>
      <vt:lpstr>ABSTRACT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ALGORITHMS</vt:lpstr>
      <vt:lpstr>Advantages of Existing and Proposing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Darshan Naik</dc:creator>
  <cp:lastModifiedBy>Prashanth kulal</cp:lastModifiedBy>
  <cp:revision>160</cp:revision>
  <dcterms:modified xsi:type="dcterms:W3CDTF">2025-04-09T16:04:19Z</dcterms:modified>
</cp:coreProperties>
</file>